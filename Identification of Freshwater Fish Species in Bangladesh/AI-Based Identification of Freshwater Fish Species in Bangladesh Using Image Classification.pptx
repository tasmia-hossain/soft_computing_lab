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arlow Condensed Heavy" panose="020B0604020202020204" charset="0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Canva Sans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32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B5FC42-FAB8-9045-0E60-BD0CAD6657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491DFB-330F-6745-F62C-31EA89C4B4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D8C80-1247-4E75-8552-8C8888C4CA5B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5D2AE-83DB-D46F-EC30-9CAD7D90D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497D3-5DB0-484A-5D4B-9794B8E85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11DCF-C1C1-4550-AA80-20E62959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53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004F7-219E-4F11-8B6E-2BF072CE9C9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F64A2-A649-4224-BF57-A06BF28D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6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.sv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7.svg"/><Relationship Id="rId4" Type="http://schemas.openxmlformats.org/officeDocument/2006/relationships/image" Target="../media/image19.jpe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mendeley.com/datasets/2gkj4h388d/3" TargetMode="External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34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6111" y="4906813"/>
            <a:ext cx="11071218" cy="5950354"/>
            <a:chOff x="-1270" y="0"/>
            <a:chExt cx="5373370" cy="2887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73370" cy="2887980"/>
            </a:xfrm>
            <a:custGeom>
              <a:avLst/>
              <a:gdLst/>
              <a:ahLst/>
              <a:cxnLst/>
              <a:rect l="l" t="t" r="r" b="b"/>
              <a:pathLst>
                <a:path w="5373370" h="2887980">
                  <a:moveTo>
                    <a:pt x="5373370" y="621030"/>
                  </a:moveTo>
                  <a:cubicBezTo>
                    <a:pt x="5373370" y="963930"/>
                    <a:pt x="5095240" y="1242060"/>
                    <a:pt x="4752340" y="1242060"/>
                  </a:cubicBezTo>
                  <a:lnTo>
                    <a:pt x="3628390" y="1242060"/>
                  </a:lnTo>
                  <a:cubicBezTo>
                    <a:pt x="3602990" y="1242060"/>
                    <a:pt x="3582670" y="1263650"/>
                    <a:pt x="3582670" y="1289050"/>
                  </a:cubicBezTo>
                  <a:cubicBezTo>
                    <a:pt x="3582670" y="1380490"/>
                    <a:pt x="3562350" y="1466850"/>
                    <a:pt x="3528060" y="1545590"/>
                  </a:cubicBezTo>
                  <a:cubicBezTo>
                    <a:pt x="3506470" y="1592580"/>
                    <a:pt x="3540760" y="1645920"/>
                    <a:pt x="3592830" y="1645920"/>
                  </a:cubicBezTo>
                  <a:cubicBezTo>
                    <a:pt x="3935730" y="1645920"/>
                    <a:pt x="4213860" y="1924050"/>
                    <a:pt x="4213860" y="2266950"/>
                  </a:cubicBezTo>
                  <a:cubicBezTo>
                    <a:pt x="4213860" y="2609850"/>
                    <a:pt x="3935730" y="2887980"/>
                    <a:pt x="3592830" y="2887980"/>
                  </a:cubicBezTo>
                  <a:lnTo>
                    <a:pt x="1252220" y="2887980"/>
                  </a:lnTo>
                  <a:cubicBezTo>
                    <a:pt x="909320" y="2887980"/>
                    <a:pt x="631190" y="2609850"/>
                    <a:pt x="631190" y="2266950"/>
                  </a:cubicBezTo>
                  <a:cubicBezTo>
                    <a:pt x="631190" y="2175510"/>
                    <a:pt x="651510" y="2089150"/>
                    <a:pt x="685800" y="2010410"/>
                  </a:cubicBezTo>
                  <a:cubicBezTo>
                    <a:pt x="707390" y="1963420"/>
                    <a:pt x="673100" y="1910080"/>
                    <a:pt x="621030" y="1910080"/>
                  </a:cubicBezTo>
                  <a:cubicBezTo>
                    <a:pt x="278130" y="1910080"/>
                    <a:pt x="0" y="1631950"/>
                    <a:pt x="0" y="1289050"/>
                  </a:cubicBezTo>
                  <a:cubicBezTo>
                    <a:pt x="0" y="946150"/>
                    <a:pt x="278130" y="668020"/>
                    <a:pt x="621030" y="668020"/>
                  </a:cubicBezTo>
                  <a:lnTo>
                    <a:pt x="1744980" y="668020"/>
                  </a:lnTo>
                  <a:cubicBezTo>
                    <a:pt x="1770380" y="668020"/>
                    <a:pt x="1790700" y="647700"/>
                    <a:pt x="1790700" y="622300"/>
                  </a:cubicBezTo>
                  <a:lnTo>
                    <a:pt x="1790700" y="621030"/>
                  </a:lnTo>
                  <a:cubicBezTo>
                    <a:pt x="1790700" y="278130"/>
                    <a:pt x="2068830" y="0"/>
                    <a:pt x="2411730" y="0"/>
                  </a:cubicBezTo>
                  <a:lnTo>
                    <a:pt x="4751070" y="0"/>
                  </a:lnTo>
                  <a:cubicBezTo>
                    <a:pt x="5095240" y="0"/>
                    <a:pt x="5373370" y="278130"/>
                    <a:pt x="5373370" y="621030"/>
                  </a:cubicBezTo>
                  <a:close/>
                </a:path>
              </a:pathLst>
            </a:custGeom>
            <a:blipFill>
              <a:blip r:embed="rId2"/>
              <a:stretch>
                <a:fillRect l="-20333" t="-12898" b="-1289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136521" y="3307946"/>
            <a:ext cx="2594369" cy="4588246"/>
            <a:chOff x="0" y="0"/>
            <a:chExt cx="683291" cy="12084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3291" cy="1208427"/>
            </a:xfrm>
            <a:custGeom>
              <a:avLst/>
              <a:gdLst/>
              <a:ahLst/>
              <a:cxnLst/>
              <a:rect l="l" t="t" r="r" b="b"/>
              <a:pathLst>
                <a:path w="683291" h="1208427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solidFill>
              <a:srgbClr val="AAD0D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-280470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46736" y="2576284"/>
            <a:ext cx="1025128" cy="1025128"/>
          </a:xfrm>
          <a:custGeom>
            <a:avLst/>
            <a:gdLst/>
            <a:ahLst/>
            <a:cxnLst/>
            <a:rect l="l" t="t" r="r" b="b"/>
            <a:pathLst>
              <a:path w="1025128" h="1025128">
                <a:moveTo>
                  <a:pt x="0" y="0"/>
                </a:moveTo>
                <a:lnTo>
                  <a:pt x="1025128" y="0"/>
                </a:lnTo>
                <a:lnTo>
                  <a:pt x="1025128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063198" y="879976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736089" y="1452968"/>
            <a:ext cx="19412329" cy="469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5"/>
              </a:lnSpc>
            </a:pPr>
            <a:r>
              <a:rPr lang="en-US" sz="8947" b="1" dirty="0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AI-Based Identification of Freshwater Fish Species in Bangladesh Using Image Classification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674167" y="210010"/>
            <a:ext cx="806841" cy="564789"/>
          </a:xfrm>
          <a:custGeom>
            <a:avLst/>
            <a:gdLst/>
            <a:ahLst/>
            <a:cxnLst/>
            <a:rect l="l" t="t" r="r" b="b"/>
            <a:pathLst>
              <a:path w="806841" h="564789">
                <a:moveTo>
                  <a:pt x="0" y="0"/>
                </a:moveTo>
                <a:lnTo>
                  <a:pt x="806841" y="0"/>
                </a:lnTo>
                <a:lnTo>
                  <a:pt x="806841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44355" y="9258300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90" y="0"/>
                </a:lnTo>
                <a:lnTo>
                  <a:pt x="1483490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44355" y="6398973"/>
            <a:ext cx="8387792" cy="2631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3950" b="1" dirty="0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Tasmia Hossain     20210204038</a:t>
            </a:r>
          </a:p>
          <a:p>
            <a:pPr algn="l">
              <a:lnSpc>
                <a:spcPts val="5174"/>
              </a:lnSpc>
            </a:pPr>
            <a:r>
              <a:rPr lang="en-US" sz="3950" b="1" dirty="0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Abu </a:t>
            </a:r>
            <a:r>
              <a:rPr lang="en-US" sz="3950" b="1" dirty="0" err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Dojana</a:t>
            </a:r>
            <a:r>
              <a:rPr lang="en-US" sz="3950" b="1" dirty="0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20210204039</a:t>
            </a:r>
          </a:p>
          <a:p>
            <a:pPr algn="l">
              <a:lnSpc>
                <a:spcPts val="5174"/>
              </a:lnSpc>
            </a:pPr>
            <a:r>
              <a:rPr lang="en-US" sz="3950" b="1" dirty="0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Md. Ahnaf Ahsan  20210204048</a:t>
            </a:r>
          </a:p>
          <a:p>
            <a:pPr algn="l">
              <a:lnSpc>
                <a:spcPts val="5174"/>
              </a:lnSpc>
            </a:pPr>
            <a:endParaRPr lang="en-US" sz="3950" b="1" dirty="0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91296" y="3025262"/>
            <a:ext cx="7003329" cy="947674"/>
            <a:chOff x="0" y="0"/>
            <a:chExt cx="1844498" cy="249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377390" y="-2813197"/>
            <a:ext cx="6756120" cy="6511211"/>
          </a:xfrm>
          <a:custGeom>
            <a:avLst/>
            <a:gdLst/>
            <a:ahLst/>
            <a:cxnLst/>
            <a:rect l="l" t="t" r="r" b="b"/>
            <a:pathLst>
              <a:path w="6756120" h="6511211">
                <a:moveTo>
                  <a:pt x="0" y="0"/>
                </a:moveTo>
                <a:lnTo>
                  <a:pt x="6756121" y="0"/>
                </a:lnTo>
                <a:lnTo>
                  <a:pt x="6756121" y="6511211"/>
                </a:lnTo>
                <a:lnTo>
                  <a:pt x="0" y="6511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9144000" y="4163436"/>
            <a:ext cx="7003329" cy="947674"/>
            <a:chOff x="0" y="0"/>
            <a:chExt cx="1844498" cy="249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91296" y="4203739"/>
            <a:ext cx="7003329" cy="947674"/>
            <a:chOff x="0" y="0"/>
            <a:chExt cx="1844498" cy="2495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91296" y="6589943"/>
            <a:ext cx="7003329" cy="947674"/>
            <a:chOff x="0" y="0"/>
            <a:chExt cx="1844498" cy="2495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3025262"/>
            <a:ext cx="7003329" cy="947674"/>
            <a:chOff x="0" y="0"/>
            <a:chExt cx="1844498" cy="2495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67418" y="3143952"/>
            <a:ext cx="710294" cy="71029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321153" y="4282126"/>
            <a:ext cx="710294" cy="71029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67418" y="4322429"/>
            <a:ext cx="710294" cy="71029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67418" y="6708633"/>
            <a:ext cx="710294" cy="71029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320122" y="3143952"/>
            <a:ext cx="710294" cy="71029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9596470" y="736048"/>
            <a:ext cx="852551" cy="852551"/>
          </a:xfrm>
          <a:custGeom>
            <a:avLst/>
            <a:gdLst/>
            <a:ahLst/>
            <a:cxnLst/>
            <a:rect l="l" t="t" r="r" b="b"/>
            <a:pathLst>
              <a:path w="852551" h="852551">
                <a:moveTo>
                  <a:pt x="0" y="0"/>
                </a:moveTo>
                <a:lnTo>
                  <a:pt x="852551" y="0"/>
                </a:lnTo>
                <a:lnTo>
                  <a:pt x="852551" y="852551"/>
                </a:lnTo>
                <a:lnTo>
                  <a:pt x="0" y="8525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91296" y="7844266"/>
            <a:ext cx="2761729" cy="2880552"/>
          </a:xfrm>
          <a:custGeom>
            <a:avLst/>
            <a:gdLst/>
            <a:ahLst/>
            <a:cxnLst/>
            <a:rect l="l" t="t" r="r" b="b"/>
            <a:pathLst>
              <a:path w="2761729" h="2880552">
                <a:moveTo>
                  <a:pt x="0" y="0"/>
                </a:moveTo>
                <a:lnTo>
                  <a:pt x="2761729" y="0"/>
                </a:lnTo>
                <a:lnTo>
                  <a:pt x="2761729" y="2880552"/>
                </a:lnTo>
                <a:lnTo>
                  <a:pt x="0" y="2880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6380698" y="7588383"/>
            <a:ext cx="4635645" cy="4931537"/>
          </a:xfrm>
          <a:custGeom>
            <a:avLst/>
            <a:gdLst/>
            <a:ahLst/>
            <a:cxnLst/>
            <a:rect l="l" t="t" r="r" b="b"/>
            <a:pathLst>
              <a:path w="4635645" h="4931537">
                <a:moveTo>
                  <a:pt x="0" y="0"/>
                </a:moveTo>
                <a:lnTo>
                  <a:pt x="4635645" y="0"/>
                </a:lnTo>
                <a:lnTo>
                  <a:pt x="4635645" y="4931537"/>
                </a:lnTo>
                <a:lnTo>
                  <a:pt x="0" y="4931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7" name="Group 37"/>
          <p:cNvGrpSpPr/>
          <p:nvPr/>
        </p:nvGrpSpPr>
        <p:grpSpPr>
          <a:xfrm>
            <a:off x="1491296" y="5413670"/>
            <a:ext cx="7003329" cy="947674"/>
            <a:chOff x="0" y="0"/>
            <a:chExt cx="1844498" cy="24959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67418" y="5532360"/>
            <a:ext cx="710294" cy="71029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9810583" y="7244546"/>
            <a:ext cx="5160025" cy="2343018"/>
          </a:xfrm>
          <a:custGeom>
            <a:avLst/>
            <a:gdLst/>
            <a:ahLst/>
            <a:cxnLst/>
            <a:rect l="l" t="t" r="r" b="b"/>
            <a:pathLst>
              <a:path w="5160025" h="2343018">
                <a:moveTo>
                  <a:pt x="0" y="0"/>
                </a:moveTo>
                <a:lnTo>
                  <a:pt x="5160025" y="0"/>
                </a:lnTo>
                <a:lnTo>
                  <a:pt x="5160025" y="2343018"/>
                </a:lnTo>
                <a:lnTo>
                  <a:pt x="0" y="23430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790938" y="1717764"/>
            <a:ext cx="8658083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73062" y="3327649"/>
            <a:ext cx="480225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67418" y="3327439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321153" y="4465613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67418" y="4505916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673494" y="4465822"/>
            <a:ext cx="523088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 Analysis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73062" y="4506126"/>
            <a:ext cx="4802258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Related Works</a:t>
            </a:r>
          </a:p>
          <a:p>
            <a:pPr algn="l">
              <a:lnSpc>
                <a:spcPts val="2879"/>
              </a:lnSpc>
            </a:pPr>
            <a:endParaRPr lang="en-US" sz="2400" b="1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973062" y="6892330"/>
            <a:ext cx="480225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625767" y="3327649"/>
            <a:ext cx="480225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Lightweight CNN Architecture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667418" y="6892121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320122" y="3327439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667418" y="5715847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973062" y="5716056"/>
            <a:ext cx="480225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144000" y="5473059"/>
            <a:ext cx="7003329" cy="947674"/>
            <a:chOff x="0" y="0"/>
            <a:chExt cx="1844498" cy="24959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844498" cy="249593"/>
            </a:xfrm>
            <a:custGeom>
              <a:avLst/>
              <a:gdLst/>
              <a:ahLst/>
              <a:cxnLst/>
              <a:rect l="l" t="t" r="r" b="b"/>
              <a:pathLst>
                <a:path w="1844498" h="249593">
                  <a:moveTo>
                    <a:pt x="55273" y="0"/>
                  </a:moveTo>
                  <a:lnTo>
                    <a:pt x="1789225" y="0"/>
                  </a:lnTo>
                  <a:cubicBezTo>
                    <a:pt x="1803884" y="0"/>
                    <a:pt x="1817943" y="5823"/>
                    <a:pt x="1828309" y="16189"/>
                  </a:cubicBezTo>
                  <a:cubicBezTo>
                    <a:pt x="1838675" y="26555"/>
                    <a:pt x="1844498" y="40614"/>
                    <a:pt x="1844498" y="55273"/>
                  </a:cubicBezTo>
                  <a:lnTo>
                    <a:pt x="1844498" y="194320"/>
                  </a:lnTo>
                  <a:cubicBezTo>
                    <a:pt x="1844498" y="224846"/>
                    <a:pt x="1819752" y="249593"/>
                    <a:pt x="1789225" y="249593"/>
                  </a:cubicBezTo>
                  <a:lnTo>
                    <a:pt x="55273" y="249593"/>
                  </a:lnTo>
                  <a:cubicBezTo>
                    <a:pt x="24747" y="249593"/>
                    <a:pt x="0" y="224846"/>
                    <a:pt x="0" y="194320"/>
                  </a:cubicBezTo>
                  <a:lnTo>
                    <a:pt x="0" y="55273"/>
                  </a:lnTo>
                  <a:cubicBezTo>
                    <a:pt x="0" y="24747"/>
                    <a:pt x="24747" y="0"/>
                    <a:pt x="552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21828"/>
              </a:solidFill>
              <a:prstDash val="solid"/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1844498" cy="29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320122" y="5591749"/>
            <a:ext cx="710294" cy="710294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9673494" y="5775446"/>
            <a:ext cx="480225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5320122" y="5775446"/>
            <a:ext cx="71029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BAB16A-A873-370D-9B43-239FC0ABF2BD}"/>
              </a:ext>
            </a:extLst>
          </p:cNvPr>
          <p:cNvSpPr txBox="1"/>
          <p:nvPr/>
        </p:nvSpPr>
        <p:spPr>
          <a:xfrm>
            <a:off x="16840200" y="9410700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34362" y="7339585"/>
            <a:ext cx="5050544" cy="5050544"/>
          </a:xfrm>
          <a:custGeom>
            <a:avLst/>
            <a:gdLst/>
            <a:ahLst/>
            <a:cxnLst/>
            <a:rect l="l" t="t" r="r" b="b"/>
            <a:pathLst>
              <a:path w="5050544" h="5050544">
                <a:moveTo>
                  <a:pt x="0" y="0"/>
                </a:moveTo>
                <a:lnTo>
                  <a:pt x="5050543" y="0"/>
                </a:lnTo>
                <a:lnTo>
                  <a:pt x="5050543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392170"/>
            <a:ext cx="5650143" cy="5894830"/>
            <a:chOff x="0" y="0"/>
            <a:chExt cx="1488104" cy="15525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8104" cy="1552548"/>
            </a:xfrm>
            <a:custGeom>
              <a:avLst/>
              <a:gdLst/>
              <a:ahLst/>
              <a:cxnLst/>
              <a:rect l="l" t="t" r="r" b="b"/>
              <a:pathLst>
                <a:path w="1488104" h="1552548">
                  <a:moveTo>
                    <a:pt x="0" y="0"/>
                  </a:moveTo>
                  <a:lnTo>
                    <a:pt x="1488104" y="0"/>
                  </a:lnTo>
                  <a:lnTo>
                    <a:pt x="1488104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AAD0D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8104" cy="1600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689442"/>
            <a:ext cx="5650143" cy="565014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57238" r="-5723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648406" y="1028700"/>
            <a:ext cx="1858734" cy="18587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277754" y="1509529"/>
            <a:ext cx="600038" cy="897076"/>
          </a:xfrm>
          <a:custGeom>
            <a:avLst/>
            <a:gdLst/>
            <a:ahLst/>
            <a:cxnLst/>
            <a:rect l="l" t="t" r="r" b="b"/>
            <a:pathLst>
              <a:path w="600038" h="897076">
                <a:moveTo>
                  <a:pt x="0" y="0"/>
                </a:moveTo>
                <a:lnTo>
                  <a:pt x="600038" y="0"/>
                </a:lnTo>
                <a:lnTo>
                  <a:pt x="600038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762041" y="8817045"/>
            <a:ext cx="2763919" cy="882511"/>
          </a:xfrm>
          <a:custGeom>
            <a:avLst/>
            <a:gdLst/>
            <a:ahLst/>
            <a:cxnLst/>
            <a:rect l="l" t="t" r="r" b="b"/>
            <a:pathLst>
              <a:path w="2763919" h="882511">
                <a:moveTo>
                  <a:pt x="0" y="0"/>
                </a:moveTo>
                <a:lnTo>
                  <a:pt x="2763918" y="0"/>
                </a:lnTo>
                <a:lnTo>
                  <a:pt x="2763918" y="882510"/>
                </a:lnTo>
                <a:lnTo>
                  <a:pt x="0" y="882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209646" y="9029033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4"/>
                </a:lnTo>
                <a:lnTo>
                  <a:pt x="0" y="458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947070" y="6079913"/>
            <a:ext cx="1025128" cy="1025128"/>
          </a:xfrm>
          <a:custGeom>
            <a:avLst/>
            <a:gdLst/>
            <a:ahLst/>
            <a:cxnLst/>
            <a:rect l="l" t="t" r="r" b="b"/>
            <a:pathLst>
              <a:path w="1025128" h="1025128">
                <a:moveTo>
                  <a:pt x="0" y="0"/>
                </a:moveTo>
                <a:lnTo>
                  <a:pt x="1025127" y="0"/>
                </a:lnTo>
                <a:lnTo>
                  <a:pt x="1025127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27750" y="3060897"/>
            <a:ext cx="8706184" cy="549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53" lvl="1" indent="-280677" algn="just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What: Identify freshwater fish species in Bangladesh using AI</a:t>
            </a:r>
          </a:p>
          <a:p>
            <a:pPr algn="just">
              <a:lnSpc>
                <a:spcPts val="3640"/>
              </a:lnSpc>
            </a:pPr>
            <a:endParaRPr lang="en-US" sz="2600" b="1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61353" lvl="1" indent="-280677" algn="just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Why: Manual identification is slow, error-prone, and requires experts</a:t>
            </a:r>
          </a:p>
          <a:p>
            <a:pPr algn="just">
              <a:lnSpc>
                <a:spcPts val="3640"/>
              </a:lnSpc>
            </a:pPr>
            <a:endParaRPr lang="en-US" sz="2600" b="1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61353" lvl="1" indent="-280677" algn="just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How: Use CNNs &amp; Vision Transformers on a real-world dataset of 12 fish species</a:t>
            </a:r>
          </a:p>
          <a:p>
            <a:pPr algn="just">
              <a:lnSpc>
                <a:spcPts val="3640"/>
              </a:lnSpc>
            </a:pPr>
            <a:endParaRPr lang="en-US" sz="2600" b="1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61353" lvl="1" indent="-280677" algn="just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Build a robust pipeline handling class imbalance, noisy images, and market conditions</a:t>
            </a:r>
          </a:p>
          <a:p>
            <a:pPr algn="just">
              <a:lnSpc>
                <a:spcPts val="3900"/>
              </a:lnSpc>
            </a:pPr>
            <a:endParaRPr lang="en-US" sz="2600" b="1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82704" y="1704537"/>
            <a:ext cx="4904983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5999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8D445A-82D3-8D6E-D379-B3381765DB2B}"/>
              </a:ext>
            </a:extLst>
          </p:cNvPr>
          <p:cNvSpPr txBox="1"/>
          <p:nvPr/>
        </p:nvSpPr>
        <p:spPr>
          <a:xfrm>
            <a:off x="16947070" y="9334500"/>
            <a:ext cx="807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2790" y="1584525"/>
            <a:ext cx="7670115" cy="7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1">
                <a:solidFill>
                  <a:srgbClr val="021828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Related Works</a:t>
            </a:r>
          </a:p>
        </p:txBody>
      </p:sp>
      <p:sp>
        <p:nvSpPr>
          <p:cNvPr id="3" name="Freeform 3"/>
          <p:cNvSpPr/>
          <p:nvPr/>
        </p:nvSpPr>
        <p:spPr>
          <a:xfrm rot="-2700000" flipV="1">
            <a:off x="15923495" y="3348439"/>
            <a:ext cx="4729010" cy="4445269"/>
          </a:xfrm>
          <a:custGeom>
            <a:avLst/>
            <a:gdLst/>
            <a:ahLst/>
            <a:cxnLst/>
            <a:rect l="l" t="t" r="r" b="b"/>
            <a:pathLst>
              <a:path w="4729010" h="4445269">
                <a:moveTo>
                  <a:pt x="0" y="4445270"/>
                </a:moveTo>
                <a:lnTo>
                  <a:pt x="4729010" y="4445270"/>
                </a:lnTo>
                <a:lnTo>
                  <a:pt x="4729010" y="0"/>
                </a:lnTo>
                <a:lnTo>
                  <a:pt x="0" y="0"/>
                </a:lnTo>
                <a:lnTo>
                  <a:pt x="0" y="44452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700000">
            <a:off x="7594230" y="-1540037"/>
            <a:ext cx="3894938" cy="3424907"/>
          </a:xfrm>
          <a:custGeom>
            <a:avLst/>
            <a:gdLst/>
            <a:ahLst/>
            <a:cxnLst/>
            <a:rect l="l" t="t" r="r" b="b"/>
            <a:pathLst>
              <a:path w="3894938" h="3424907">
                <a:moveTo>
                  <a:pt x="0" y="0"/>
                </a:moveTo>
                <a:lnTo>
                  <a:pt x="3894938" y="0"/>
                </a:lnTo>
                <a:lnTo>
                  <a:pt x="3894938" y="3424906"/>
                </a:lnTo>
                <a:lnTo>
                  <a:pt x="0" y="3424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9792" r="-17055"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667097" y="7867997"/>
            <a:ext cx="723206" cy="723206"/>
          </a:xfrm>
          <a:custGeom>
            <a:avLst/>
            <a:gdLst/>
            <a:ahLst/>
            <a:cxnLst/>
            <a:rect l="l" t="t" r="r" b="b"/>
            <a:pathLst>
              <a:path w="723206" h="723206">
                <a:moveTo>
                  <a:pt x="0" y="0"/>
                </a:moveTo>
                <a:lnTo>
                  <a:pt x="723206" y="0"/>
                </a:lnTo>
                <a:lnTo>
                  <a:pt x="723206" y="723206"/>
                </a:lnTo>
                <a:lnTo>
                  <a:pt x="0" y="723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72905" y="9843372"/>
            <a:ext cx="842072" cy="652448"/>
          </a:xfrm>
          <a:custGeom>
            <a:avLst/>
            <a:gdLst/>
            <a:ahLst/>
            <a:cxnLst/>
            <a:rect l="l" t="t" r="r" b="b"/>
            <a:pathLst>
              <a:path w="842072" h="652448">
                <a:moveTo>
                  <a:pt x="0" y="0"/>
                </a:moveTo>
                <a:lnTo>
                  <a:pt x="842072" y="0"/>
                </a:lnTo>
                <a:lnTo>
                  <a:pt x="842072" y="652447"/>
                </a:lnTo>
                <a:lnTo>
                  <a:pt x="0" y="6524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9094" r="-39480" b="-5092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03839" y="2338290"/>
            <a:ext cx="15480322" cy="6379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1" lvl="1" indent="-302265" algn="l">
              <a:lnSpc>
                <a:spcPts val="420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Shaikh et al., 2025: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Hybrid CNN (ResNet50 + SVC + Cat Swarm); 98.7% accuracy on 8 species; limited dataset &amp; scalability.</a:t>
            </a:r>
          </a:p>
          <a:p>
            <a:pPr marL="604531" lvl="1" indent="-302265" algn="l">
              <a:lnSpc>
                <a:spcPts val="420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Miller et al., 2025: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PRISMA review of 312 AI-biodiversity studies; highlighted global growth, data limitations, and lack of generalizability.</a:t>
            </a:r>
          </a:p>
          <a:p>
            <a:pPr marL="604531" lvl="1" indent="-302265" algn="l">
              <a:lnSpc>
                <a:spcPts val="420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Ahmed et al., 2023: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IoT-enabled hybrid CNN + ConvLSTM; 97% accuracy; DenseNet strong; dataset limits broader use.</a:t>
            </a:r>
          </a:p>
          <a:p>
            <a:pPr marL="604531" lvl="1" indent="-302265" algn="l">
              <a:lnSpc>
                <a:spcPts val="420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Wasik &amp; Pattinson, 2024: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in fish taxonomy &amp; monitoring; emphasized ethics &amp; large-scale ecological applications.</a:t>
            </a:r>
          </a:p>
          <a:p>
            <a:pPr marL="604531" lvl="1" indent="-302265" algn="l">
              <a:lnSpc>
                <a:spcPts val="420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Das et al., 2024: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BD-Freshwater-Fish dataset (4,389 images, 12 species); standardized data; filled regional gap for AI systems.</a:t>
            </a:r>
          </a:p>
          <a:p>
            <a:pPr algn="l">
              <a:lnSpc>
                <a:spcPts val="4200"/>
              </a:lnSpc>
            </a:pPr>
            <a:endParaRPr lang="en-US" sz="28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200"/>
              </a:lnSpc>
            </a:pPr>
            <a:endParaRPr lang="en-US" sz="28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90303" y="7823270"/>
            <a:ext cx="15868997" cy="1435030"/>
            <a:chOff x="0" y="0"/>
            <a:chExt cx="4179489" cy="3779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79489" cy="377950"/>
            </a:xfrm>
            <a:custGeom>
              <a:avLst/>
              <a:gdLst/>
              <a:ahLst/>
              <a:cxnLst/>
              <a:rect l="l" t="t" r="r" b="b"/>
              <a:pathLst>
                <a:path w="4179489" h="377950">
                  <a:moveTo>
                    <a:pt x="24393" y="0"/>
                  </a:moveTo>
                  <a:lnTo>
                    <a:pt x="4155096" y="0"/>
                  </a:lnTo>
                  <a:cubicBezTo>
                    <a:pt x="4168568" y="0"/>
                    <a:pt x="4179489" y="10921"/>
                    <a:pt x="4179489" y="24393"/>
                  </a:cubicBezTo>
                  <a:lnTo>
                    <a:pt x="4179489" y="353557"/>
                  </a:lnTo>
                  <a:cubicBezTo>
                    <a:pt x="4179489" y="367029"/>
                    <a:pt x="4168568" y="377950"/>
                    <a:pt x="4155096" y="377950"/>
                  </a:cubicBezTo>
                  <a:lnTo>
                    <a:pt x="24393" y="377950"/>
                  </a:lnTo>
                  <a:cubicBezTo>
                    <a:pt x="10921" y="377950"/>
                    <a:pt x="0" y="367029"/>
                    <a:pt x="0" y="353557"/>
                  </a:cubicBezTo>
                  <a:lnTo>
                    <a:pt x="0" y="24393"/>
                  </a:lnTo>
                  <a:cubicBezTo>
                    <a:pt x="0" y="10921"/>
                    <a:pt x="10921" y="0"/>
                    <a:pt x="243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C4372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79489" cy="42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4745" y="8028585"/>
            <a:ext cx="14894716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Motivation: Existing works have limitations in dataset diversity, scalability, and class imbalance </a:t>
            </a:r>
          </a:p>
          <a:p>
            <a:pPr algn="l">
              <a:lnSpc>
                <a:spcPts val="3839"/>
              </a:lnSpc>
            </a:pPr>
            <a:r>
              <a:rPr lang="en-US" sz="2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Our work addresses these gaps for robust real-world deployment.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02707-0060-BA0E-720C-81B4673D6AAA}"/>
              </a:ext>
            </a:extLst>
          </p:cNvPr>
          <p:cNvSpPr txBox="1"/>
          <p:nvPr/>
        </p:nvSpPr>
        <p:spPr>
          <a:xfrm>
            <a:off x="17068800" y="9401079"/>
            <a:ext cx="842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29232" y="5321591"/>
            <a:ext cx="8730068" cy="4363308"/>
            <a:chOff x="0" y="0"/>
            <a:chExt cx="1352516" cy="6759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2516" cy="675991"/>
            </a:xfrm>
            <a:custGeom>
              <a:avLst/>
              <a:gdLst/>
              <a:ahLst/>
              <a:cxnLst/>
              <a:rect l="l" t="t" r="r" b="b"/>
              <a:pathLst>
                <a:path w="1352516" h="675991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661802"/>
                  </a:lnTo>
                  <a:cubicBezTo>
                    <a:pt x="1352516" y="669638"/>
                    <a:pt x="1346163" y="675991"/>
                    <a:pt x="1338327" y="675991"/>
                  </a:cubicBezTo>
                  <a:lnTo>
                    <a:pt x="14189" y="675991"/>
                  </a:lnTo>
                  <a:cubicBezTo>
                    <a:pt x="6353" y="675991"/>
                    <a:pt x="0" y="669638"/>
                    <a:pt x="0" y="661802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-357" r="-35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848550" y="1944578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7"/>
                </a:lnTo>
                <a:lnTo>
                  <a:pt x="0" y="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98985" y="1028700"/>
            <a:ext cx="960315" cy="960315"/>
          </a:xfrm>
          <a:custGeom>
            <a:avLst/>
            <a:gdLst/>
            <a:ahLst/>
            <a:cxnLst/>
            <a:rect l="l" t="t" r="r" b="b"/>
            <a:pathLst>
              <a:path w="960315" h="960315">
                <a:moveTo>
                  <a:pt x="0" y="0"/>
                </a:moveTo>
                <a:lnTo>
                  <a:pt x="960315" y="0"/>
                </a:lnTo>
                <a:lnTo>
                  <a:pt x="960315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54469" y="5188587"/>
            <a:ext cx="6184156" cy="4629316"/>
          </a:xfrm>
          <a:custGeom>
            <a:avLst/>
            <a:gdLst/>
            <a:ahLst/>
            <a:cxnLst/>
            <a:rect l="l" t="t" r="r" b="b"/>
            <a:pathLst>
              <a:path w="6184156" h="4629316">
                <a:moveTo>
                  <a:pt x="0" y="0"/>
                </a:moveTo>
                <a:lnTo>
                  <a:pt x="6184156" y="0"/>
                </a:lnTo>
                <a:lnTo>
                  <a:pt x="6184156" y="4629316"/>
                </a:lnTo>
                <a:lnTo>
                  <a:pt x="0" y="4629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41930" y="1042230"/>
            <a:ext cx="7075535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60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930" y="2076971"/>
            <a:ext cx="13819850" cy="336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BD Freshwater Fish Dataset : </a:t>
            </a:r>
            <a:r>
              <a:rPr lang="en-US" sz="2900" b="1" u="sng">
                <a:solidFill>
                  <a:srgbClr val="3C6ECD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8" tooltip="https://data.mendeley.com/datasets/2gkj4h388d/3"/>
              </a:rPr>
              <a:t>https://data.mendeley.com/datasets/2gkj4h388d/3</a:t>
            </a:r>
          </a:p>
          <a:p>
            <a:pPr marL="582943" lvl="1" indent="-291471" algn="just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Comprises 4,389 high-resolution images.</a:t>
            </a:r>
          </a:p>
          <a:p>
            <a:pPr marL="582943" lvl="1" indent="-291471" algn="just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12 distinct fish species, ensuring broad classification capability.</a:t>
            </a:r>
          </a:p>
          <a:p>
            <a:pPr marL="582943" lvl="1" indent="-291471" algn="just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Stratified split: 70% for training, 15% for validation, and 15% for testing to maintain class distribution.</a:t>
            </a:r>
          </a:p>
          <a:p>
            <a:pPr algn="just">
              <a:lnSpc>
                <a:spcPts val="3500"/>
              </a:lnSpc>
            </a:pPr>
            <a:endParaRPr lang="en-US" sz="2700" b="1">
              <a:solidFill>
                <a:srgbClr val="0218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56ED5-1904-984B-DF1F-04103EDC074A}"/>
              </a:ext>
            </a:extLst>
          </p:cNvPr>
          <p:cNvSpPr txBox="1"/>
          <p:nvPr/>
        </p:nvSpPr>
        <p:spPr>
          <a:xfrm>
            <a:off x="16840200" y="9222067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5178" y="6918223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5"/>
                </a:lnTo>
                <a:lnTo>
                  <a:pt x="0" y="1108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102870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4350" y="4408931"/>
            <a:ext cx="17259300" cy="2330006"/>
          </a:xfrm>
          <a:custGeom>
            <a:avLst/>
            <a:gdLst/>
            <a:ahLst/>
            <a:cxnLst/>
            <a:rect l="l" t="t" r="r" b="b"/>
            <a:pathLst>
              <a:path w="17259300" h="2330006">
                <a:moveTo>
                  <a:pt x="0" y="0"/>
                </a:moveTo>
                <a:lnTo>
                  <a:pt x="17259300" y="0"/>
                </a:lnTo>
                <a:lnTo>
                  <a:pt x="17259300" y="2330005"/>
                </a:lnTo>
                <a:lnTo>
                  <a:pt x="0" y="2330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03111" y="693355"/>
            <a:ext cx="7881777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2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C1E06-D0B5-BF36-0164-A518D3CB5B3C}"/>
              </a:ext>
            </a:extLst>
          </p:cNvPr>
          <p:cNvSpPr txBox="1"/>
          <p:nvPr/>
        </p:nvSpPr>
        <p:spPr>
          <a:xfrm>
            <a:off x="16821150" y="9215340"/>
            <a:ext cx="876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5178" y="6918223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5"/>
                </a:lnTo>
                <a:lnTo>
                  <a:pt x="0" y="1108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1028700"/>
            <a:ext cx="1583878" cy="1108714"/>
          </a:xfrm>
          <a:custGeom>
            <a:avLst/>
            <a:gdLst/>
            <a:ahLst/>
            <a:cxnLst/>
            <a:rect l="l" t="t" r="r" b="b"/>
            <a:pathLst>
              <a:path w="1583878" h="1108714">
                <a:moveTo>
                  <a:pt x="0" y="0"/>
                </a:moveTo>
                <a:lnTo>
                  <a:pt x="1583878" y="0"/>
                </a:lnTo>
                <a:lnTo>
                  <a:pt x="1583878" y="1108714"/>
                </a:lnTo>
                <a:lnTo>
                  <a:pt x="0" y="1108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143500"/>
            <a:ext cx="16553367" cy="1213914"/>
          </a:xfrm>
          <a:custGeom>
            <a:avLst/>
            <a:gdLst/>
            <a:ahLst/>
            <a:cxnLst/>
            <a:rect l="l" t="t" r="r" b="b"/>
            <a:pathLst>
              <a:path w="16553367" h="1213914">
                <a:moveTo>
                  <a:pt x="0" y="0"/>
                </a:moveTo>
                <a:lnTo>
                  <a:pt x="16553367" y="0"/>
                </a:lnTo>
                <a:lnTo>
                  <a:pt x="16553367" y="1213914"/>
                </a:lnTo>
                <a:lnTo>
                  <a:pt x="0" y="1213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23967" y="990600"/>
            <a:ext cx="13640067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20"/>
              </a:lnSpc>
              <a:spcBef>
                <a:spcPct val="0"/>
              </a:spcBef>
            </a:pPr>
            <a:r>
              <a:rPr lang="en-US" sz="6000" b="1">
                <a:solidFill>
                  <a:srgbClr val="0218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LIGHTWEIGHT CNN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9C4FD-4E43-E445-6750-AC38508E147A}"/>
              </a:ext>
            </a:extLst>
          </p:cNvPr>
          <p:cNvSpPr txBox="1"/>
          <p:nvPr/>
        </p:nvSpPr>
        <p:spPr>
          <a:xfrm>
            <a:off x="16916400" y="92583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87728" y="2786905"/>
            <a:ext cx="3353620" cy="5894830"/>
            <a:chOff x="0" y="0"/>
            <a:chExt cx="883258" cy="1552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3258" cy="1552548"/>
            </a:xfrm>
            <a:custGeom>
              <a:avLst/>
              <a:gdLst/>
              <a:ahLst/>
              <a:cxnLst/>
              <a:rect l="l" t="t" r="r" b="b"/>
              <a:pathLst>
                <a:path w="883258" h="155254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AAD0D2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40202" y="-2015691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611409" y="704962"/>
            <a:ext cx="647477" cy="647477"/>
          </a:xfrm>
          <a:custGeom>
            <a:avLst/>
            <a:gdLst/>
            <a:ahLst/>
            <a:cxnLst/>
            <a:rect l="l" t="t" r="r" b="b"/>
            <a:pathLst>
              <a:path w="647477" h="647477">
                <a:moveTo>
                  <a:pt x="0" y="0"/>
                </a:moveTo>
                <a:lnTo>
                  <a:pt x="647477" y="0"/>
                </a:lnTo>
                <a:lnTo>
                  <a:pt x="647477" y="647476"/>
                </a:lnTo>
                <a:lnTo>
                  <a:pt x="0" y="647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62737" y="3340420"/>
            <a:ext cx="14132282" cy="6200539"/>
          </a:xfrm>
          <a:custGeom>
            <a:avLst/>
            <a:gdLst/>
            <a:ahLst/>
            <a:cxnLst/>
            <a:rect l="l" t="t" r="r" b="b"/>
            <a:pathLst>
              <a:path w="14132282" h="6200539">
                <a:moveTo>
                  <a:pt x="0" y="0"/>
                </a:moveTo>
                <a:lnTo>
                  <a:pt x="14132281" y="0"/>
                </a:lnTo>
                <a:lnTo>
                  <a:pt x="14132281" y="6200538"/>
                </a:lnTo>
                <a:lnTo>
                  <a:pt x="0" y="6200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9082" y="1314338"/>
            <a:ext cx="7710675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20"/>
              </a:lnSpc>
              <a:spcBef>
                <a:spcPct val="0"/>
              </a:spcBef>
            </a:pPr>
            <a:r>
              <a:rPr lang="en-US" sz="6000" b="1">
                <a:solidFill>
                  <a:srgbClr val="0E2F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62737" y="2434376"/>
            <a:ext cx="14894716" cy="65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1: Overall Model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84C00-7C33-16A4-0E53-FBE2D682DC3F}"/>
              </a:ext>
            </a:extLst>
          </p:cNvPr>
          <p:cNvSpPr txBox="1"/>
          <p:nvPr/>
        </p:nvSpPr>
        <p:spPr>
          <a:xfrm>
            <a:off x="16764000" y="927682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40202" y="-2015691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11409" y="704962"/>
            <a:ext cx="647477" cy="647477"/>
          </a:xfrm>
          <a:custGeom>
            <a:avLst/>
            <a:gdLst/>
            <a:ahLst/>
            <a:cxnLst/>
            <a:rect l="l" t="t" r="r" b="b"/>
            <a:pathLst>
              <a:path w="647477" h="647477">
                <a:moveTo>
                  <a:pt x="0" y="0"/>
                </a:moveTo>
                <a:lnTo>
                  <a:pt x="647477" y="0"/>
                </a:lnTo>
                <a:lnTo>
                  <a:pt x="647477" y="647476"/>
                </a:lnTo>
                <a:lnTo>
                  <a:pt x="0" y="647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34600" y="3893574"/>
            <a:ext cx="7696200" cy="4430748"/>
          </a:xfrm>
          <a:custGeom>
            <a:avLst/>
            <a:gdLst/>
            <a:ahLst/>
            <a:cxnLst/>
            <a:rect l="l" t="t" r="r" b="b"/>
            <a:pathLst>
              <a:path w="7654830" h="4631172">
                <a:moveTo>
                  <a:pt x="0" y="0"/>
                </a:moveTo>
                <a:lnTo>
                  <a:pt x="7654829" y="0"/>
                </a:lnTo>
                <a:lnTo>
                  <a:pt x="7654829" y="4631172"/>
                </a:lnTo>
                <a:lnTo>
                  <a:pt x="0" y="4631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9082" y="3775182"/>
            <a:ext cx="9621013" cy="4579866"/>
          </a:xfrm>
          <a:custGeom>
            <a:avLst/>
            <a:gdLst/>
            <a:ahLst/>
            <a:cxnLst/>
            <a:rect l="l" t="t" r="r" b="b"/>
            <a:pathLst>
              <a:path w="9621013" h="4579866">
                <a:moveTo>
                  <a:pt x="0" y="0"/>
                </a:moveTo>
                <a:lnTo>
                  <a:pt x="9621013" y="0"/>
                </a:lnTo>
                <a:lnTo>
                  <a:pt x="9621013" y="4579866"/>
                </a:lnTo>
                <a:lnTo>
                  <a:pt x="0" y="4579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9082" y="1314338"/>
            <a:ext cx="7710675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620"/>
              </a:lnSpc>
              <a:spcBef>
                <a:spcPct val="0"/>
              </a:spcBef>
            </a:pPr>
            <a:r>
              <a:rPr lang="en-US" sz="6000" b="1">
                <a:solidFill>
                  <a:srgbClr val="0E2F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605149"/>
            <a:ext cx="14894716" cy="65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2: Species-Specific Classification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4A260-3855-12F4-A6B7-B24ACBFE7D7C}"/>
              </a:ext>
            </a:extLst>
          </p:cNvPr>
          <p:cNvSpPr txBox="1"/>
          <p:nvPr/>
        </p:nvSpPr>
        <p:spPr>
          <a:xfrm>
            <a:off x="16916400" y="92583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4901" y="2118653"/>
            <a:ext cx="6294535" cy="852068"/>
            <a:chOff x="0" y="0"/>
            <a:chExt cx="1295215" cy="175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5215" cy="175329"/>
            </a:xfrm>
            <a:custGeom>
              <a:avLst/>
              <a:gdLst/>
              <a:ahLst/>
              <a:cxnLst/>
              <a:rect l="l" t="t" r="r" b="b"/>
              <a:pathLst>
                <a:path w="1295215" h="175329">
                  <a:moveTo>
                    <a:pt x="62727" y="0"/>
                  </a:moveTo>
                  <a:lnTo>
                    <a:pt x="1232488" y="0"/>
                  </a:lnTo>
                  <a:cubicBezTo>
                    <a:pt x="1249124" y="0"/>
                    <a:pt x="1265079" y="6609"/>
                    <a:pt x="1276843" y="18372"/>
                  </a:cubicBezTo>
                  <a:cubicBezTo>
                    <a:pt x="1288606" y="30136"/>
                    <a:pt x="1295215" y="46091"/>
                    <a:pt x="1295215" y="62727"/>
                  </a:cubicBezTo>
                  <a:lnTo>
                    <a:pt x="1295215" y="112601"/>
                  </a:lnTo>
                  <a:cubicBezTo>
                    <a:pt x="1295215" y="147245"/>
                    <a:pt x="1267131" y="175329"/>
                    <a:pt x="1232488" y="175329"/>
                  </a:cubicBezTo>
                  <a:lnTo>
                    <a:pt x="62727" y="175329"/>
                  </a:lnTo>
                  <a:cubicBezTo>
                    <a:pt x="28084" y="175329"/>
                    <a:pt x="0" y="147245"/>
                    <a:pt x="0" y="112601"/>
                  </a:cubicBezTo>
                  <a:lnTo>
                    <a:pt x="0" y="62727"/>
                  </a:lnTo>
                  <a:cubicBezTo>
                    <a:pt x="0" y="28084"/>
                    <a:pt x="28084" y="0"/>
                    <a:pt x="62727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95215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72304" y="2118653"/>
            <a:ext cx="852068" cy="852068"/>
          </a:xfrm>
          <a:custGeom>
            <a:avLst/>
            <a:gdLst/>
            <a:ahLst/>
            <a:cxnLst/>
            <a:rect l="l" t="t" r="r" b="b"/>
            <a:pathLst>
              <a:path w="852068" h="852068">
                <a:moveTo>
                  <a:pt x="0" y="0"/>
                </a:moveTo>
                <a:lnTo>
                  <a:pt x="852068" y="0"/>
                </a:lnTo>
                <a:lnTo>
                  <a:pt x="852068" y="852068"/>
                </a:lnTo>
                <a:lnTo>
                  <a:pt x="0" y="852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67814" y="-1205189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990600"/>
            <a:ext cx="6654579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20"/>
              </a:lnSpc>
              <a:spcBef>
                <a:spcPct val="0"/>
              </a:spcBef>
            </a:pPr>
            <a:r>
              <a:rPr lang="en-US" sz="6000" b="1">
                <a:solidFill>
                  <a:srgbClr val="0E2F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sz="6000" b="1" u="none" strike="noStrike">
                <a:solidFill>
                  <a:srgbClr val="0E2F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2790" y="3035199"/>
            <a:ext cx="16009035" cy="323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Achieved 84.62% test accuracy with only 2.8M parameters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 accuracy: 85.11% demonstrating good generalization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Successfully implemented advanced training techniques for enhanced stability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Demonstrated robust generalization with minimal overfitting on unseen data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Designed an efficient model suitable for practical deployment scenarios</a:t>
            </a:r>
          </a:p>
          <a:p>
            <a:pPr algn="just">
              <a:lnSpc>
                <a:spcPts val="4340"/>
              </a:lnSpc>
            </a:pPr>
            <a:endParaRPr lang="en-US" sz="31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77897" y="2282961"/>
            <a:ext cx="3148543" cy="97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2"/>
              </a:lnSpc>
            </a:pPr>
            <a:r>
              <a:rPr lang="en-US" sz="281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Achievements</a:t>
            </a:r>
          </a:p>
          <a:p>
            <a:pPr algn="ctr">
              <a:lnSpc>
                <a:spcPts val="3942"/>
              </a:lnSpc>
            </a:pPr>
            <a:endParaRPr lang="en-US" sz="2815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574039" y="1028700"/>
            <a:ext cx="1226460" cy="379088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804901" y="6042984"/>
            <a:ext cx="6294535" cy="852068"/>
            <a:chOff x="0" y="0"/>
            <a:chExt cx="1295215" cy="1753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5215" cy="175329"/>
            </a:xfrm>
            <a:custGeom>
              <a:avLst/>
              <a:gdLst/>
              <a:ahLst/>
              <a:cxnLst/>
              <a:rect l="l" t="t" r="r" b="b"/>
              <a:pathLst>
                <a:path w="1295215" h="175329">
                  <a:moveTo>
                    <a:pt x="62727" y="0"/>
                  </a:moveTo>
                  <a:lnTo>
                    <a:pt x="1232488" y="0"/>
                  </a:lnTo>
                  <a:cubicBezTo>
                    <a:pt x="1249124" y="0"/>
                    <a:pt x="1265079" y="6609"/>
                    <a:pt x="1276843" y="18372"/>
                  </a:cubicBezTo>
                  <a:cubicBezTo>
                    <a:pt x="1288606" y="30136"/>
                    <a:pt x="1295215" y="46091"/>
                    <a:pt x="1295215" y="62727"/>
                  </a:cubicBezTo>
                  <a:lnTo>
                    <a:pt x="1295215" y="112601"/>
                  </a:lnTo>
                  <a:cubicBezTo>
                    <a:pt x="1295215" y="147245"/>
                    <a:pt x="1267131" y="175329"/>
                    <a:pt x="1232488" y="175329"/>
                  </a:cubicBezTo>
                  <a:lnTo>
                    <a:pt x="62727" y="175329"/>
                  </a:lnTo>
                  <a:cubicBezTo>
                    <a:pt x="28084" y="175329"/>
                    <a:pt x="0" y="147245"/>
                    <a:pt x="0" y="112601"/>
                  </a:cubicBezTo>
                  <a:lnTo>
                    <a:pt x="0" y="62727"/>
                  </a:lnTo>
                  <a:cubicBezTo>
                    <a:pt x="0" y="28084"/>
                    <a:pt x="28084" y="0"/>
                    <a:pt x="62727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95215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72304" y="6042984"/>
            <a:ext cx="852068" cy="852068"/>
          </a:xfrm>
          <a:custGeom>
            <a:avLst/>
            <a:gdLst/>
            <a:ahLst/>
            <a:cxnLst/>
            <a:rect l="l" t="t" r="r" b="b"/>
            <a:pathLst>
              <a:path w="852068" h="852068">
                <a:moveTo>
                  <a:pt x="0" y="0"/>
                </a:moveTo>
                <a:lnTo>
                  <a:pt x="852068" y="0"/>
                </a:lnTo>
                <a:lnTo>
                  <a:pt x="852068" y="852069"/>
                </a:lnTo>
                <a:lnTo>
                  <a:pt x="0" y="85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42790" y="7125952"/>
            <a:ext cx="15716510" cy="269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Extend training duration to 75+ epochs for potential further refinement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Incorporate attention mechanisms to focus on salient image features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 test-time augmentation (TTA) for marginal accuracy gains</a:t>
            </a:r>
          </a:p>
          <a:p>
            <a:pPr marL="669301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Optimize the model for real-time deployment on edge devices</a:t>
            </a:r>
          </a:p>
          <a:p>
            <a:pPr algn="just">
              <a:lnSpc>
                <a:spcPts val="4340"/>
              </a:lnSpc>
            </a:pPr>
            <a:endParaRPr lang="en-US" sz="31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99477" y="6207293"/>
            <a:ext cx="4305382" cy="97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2"/>
              </a:lnSpc>
            </a:pPr>
            <a:r>
              <a:rPr lang="en-US" sz="281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Improvements</a:t>
            </a:r>
          </a:p>
          <a:p>
            <a:pPr algn="ctr">
              <a:lnSpc>
                <a:spcPts val="3942"/>
              </a:lnSpc>
            </a:pPr>
            <a:endParaRPr lang="en-US" sz="2815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D4E24-2550-DCD0-C3D3-FBBA7822578B}"/>
              </a:ext>
            </a:extLst>
          </p:cNvPr>
          <p:cNvSpPr txBox="1"/>
          <p:nvPr/>
        </p:nvSpPr>
        <p:spPr>
          <a:xfrm>
            <a:off x="16770137" y="9234211"/>
            <a:ext cx="63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0689" y="3298928"/>
            <a:ext cx="9346622" cy="389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sz="16848" b="1">
                <a:solidFill>
                  <a:srgbClr val="3D7477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424608" y="-1072654"/>
            <a:ext cx="11438784" cy="2839490"/>
            <a:chOff x="0" y="0"/>
            <a:chExt cx="3012684" cy="7478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2684" cy="747849"/>
            </a:xfrm>
            <a:custGeom>
              <a:avLst/>
              <a:gdLst/>
              <a:ahLst/>
              <a:cxnLst/>
              <a:rect l="l" t="t" r="r" b="b"/>
              <a:pathLst>
                <a:path w="3012684" h="747849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AAD0D2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95527" y="1028700"/>
            <a:ext cx="1496945" cy="14969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74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673581" y="1447879"/>
            <a:ext cx="940838" cy="658587"/>
          </a:xfrm>
          <a:custGeom>
            <a:avLst/>
            <a:gdLst/>
            <a:ahLst/>
            <a:cxnLst/>
            <a:rect l="l" t="t" r="r" b="b"/>
            <a:pathLst>
              <a:path w="940838" h="658587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424608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3344065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0" y="8996715"/>
            <a:ext cx="18288000" cy="1290285"/>
            <a:chOff x="0" y="0"/>
            <a:chExt cx="4816593" cy="3398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339828"/>
            </a:xfrm>
            <a:custGeom>
              <a:avLst/>
              <a:gdLst/>
              <a:ahLst/>
              <a:cxnLst/>
              <a:rect l="l" t="t" r="r" b="b"/>
              <a:pathLst>
                <a:path w="4816592" h="339828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3D7477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421</Words>
  <Application>Microsoft Office PowerPoint</Application>
  <PresentationFormat>Custom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Canva Sans Medium</vt:lpstr>
      <vt:lpstr>Canva Sans</vt:lpstr>
      <vt:lpstr>Calibri</vt:lpstr>
      <vt:lpstr>Canva Sans Bold</vt:lpstr>
      <vt:lpstr>Barlow Condensed Heavy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</dc:title>
  <dc:creator>ASUS</dc:creator>
  <cp:lastModifiedBy>Tasmia Hossain Kashfia</cp:lastModifiedBy>
  <cp:revision>4</cp:revision>
  <dcterms:created xsi:type="dcterms:W3CDTF">2006-08-16T00:00:00Z</dcterms:created>
  <dcterms:modified xsi:type="dcterms:W3CDTF">2025-09-24T12:58:45Z</dcterms:modified>
  <dc:identifier>DAGztBhoF84</dc:identifier>
</cp:coreProperties>
</file>